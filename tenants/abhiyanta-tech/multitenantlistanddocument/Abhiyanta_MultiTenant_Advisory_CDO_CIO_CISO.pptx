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ADVISORY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Adopting a Multi-Tenant Strategy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SAP Integration Suite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briefing for CDO, CIO and CISO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09728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tenant is no longer a defensible posture — and what the SAP-recommended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three-tenant landscape looks like in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Pvt. Ltd.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727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Gold Partner   |   Pune  •  Dubai  •  Singapore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4434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having this conversation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33832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misbehaving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iFlow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enough to disrupt real purchase orders, customer shipments, customs filings — and the audit trail.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234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ADVISORY RECOMMENDS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6002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a single-tenant Integration Suite estate to the SAP-recommended three-tenant landscape: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132588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377440"/>
            <a:ext cx="1325880" cy="73152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542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developers 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377440"/>
            <a:ext cx="132588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377440"/>
            <a:ext cx="1325880" cy="73152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542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5040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QA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0760" y="3291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validate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0" y="2377440"/>
            <a:ext cx="1325880" cy="155448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377440"/>
            <a:ext cx="1325880" cy="73152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254203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2926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43800" y="32918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business runs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069080"/>
            <a:ext cx="429768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4069080"/>
            <a:ext cx="73152" cy="502920"/>
          </a:xfrm>
          <a:prstGeom prst="rect">
            <a:avLst/>
          </a:prstGeom>
          <a:solidFill>
            <a:srgbClr val="128A3D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production is shielded from change, change is shielded from chaos.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three-tenant landscape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103120" cy="50292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unit-test integration content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017520"/>
            <a:ext cx="1371600" cy="13716"/>
          </a:xfrm>
          <a:prstGeom prst="rect">
            <a:avLst/>
          </a:prstGeom>
          <a:solidFill>
            <a:srgbClr val="D5DDE3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entitlement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3716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371600"/>
            <a:ext cx="2103120" cy="50292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QA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validation, UAT, regression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86200" y="3017520"/>
            <a:ext cx="1371600" cy="13716"/>
          </a:xfrm>
          <a:prstGeom prst="rect">
            <a:avLst/>
          </a:prstGeom>
          <a:solidFill>
            <a:srgbClr val="D5DDE3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entitlement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+ business access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1371600"/>
            <a:ext cx="21031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371600"/>
            <a:ext cx="210312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4173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2940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23774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business traffic — shielded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3017520"/>
            <a:ext cx="1371600" cy="13716"/>
          </a:xfrm>
          <a:prstGeom prst="rect">
            <a:avLst/>
          </a:prstGeom>
          <a:solidFill>
            <a:srgbClr val="D5DDE3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entitlement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access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97480" y="2194560"/>
            <a:ext cx="594360" cy="457200"/>
          </a:xfrm>
          <a:prstGeom prst="rightArrow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697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194560"/>
            <a:ext cx="594360" cy="457200"/>
          </a:xfrm>
          <a:prstGeom prst="rightArrow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697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840480"/>
            <a:ext cx="73152" cy="77724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9044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 BY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133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Cloud Transport Management (cTMS)  •  Change-advisory approvals  •  Versioned content packages  •  Audit log per promotion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compelling reasons — distilled for the executive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73152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57200" cy="29260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0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live business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bugs cannot reach production transactions.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73152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371600"/>
            <a:ext cx="457200" cy="29260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380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SAP upgrades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Non-prod tenants receive SAP updates first.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73152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371600"/>
            <a:ext cx="457200" cy="29260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80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audit obligations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18288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is enforced by design.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2971800"/>
            <a:ext cx="73152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154680"/>
            <a:ext cx="457200" cy="29260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CI/CD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cTMS gives a real transport path.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4612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971800"/>
            <a:ext cx="73152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154680"/>
            <a:ext cx="457200" cy="29260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performance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47472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tests cannot starve production capacity.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80760" y="2971800"/>
            <a:ext cx="2697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971800"/>
            <a:ext cx="73152" cy="160020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154680"/>
            <a:ext cx="457200" cy="292608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163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3136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Comply with sovereignty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36118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datacentre per tenant for GDPR / DPDPA / PDPL.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TWO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Expectations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CDO, the CIO, and the CISO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09728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29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persona has a different lens. The same architecture answers all three —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F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each leader should expect, and not expect, is different.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 |  Chief Digital Officer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5204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Digital Officer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5720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of innovation, time-to-value, AI and event-driven integration readiness, business outcomes.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5440680" cy="1691640"/>
          </a:xfrm>
          <a:prstGeom prst="rect">
            <a:avLst/>
          </a:prstGeom>
          <a:solidFill>
            <a:srgbClr val="E6F4EA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188720"/>
            <a:ext cx="91440" cy="1691640"/>
          </a:xfrm>
          <a:prstGeom prst="rect">
            <a:avLst/>
          </a:prstGeom>
          <a:solidFill>
            <a:srgbClr val="128A3D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TO  EXPECT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600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Sandbox / Dev tenant for AI Adapter, Joule and EIC experiments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safer release of new integration capabilities to the business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time-to-value: idea → Dev → QA → Prod within weeks, not months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3017520"/>
            <a:ext cx="5440680" cy="1691640"/>
          </a:xfrm>
          <a:prstGeom prst="rect">
            <a:avLst/>
          </a:prstGeom>
          <a:solidFill>
            <a:srgbClr val="FFF3E6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3017520"/>
            <a:ext cx="91440" cy="1691640"/>
          </a:xfrm>
          <a:prstGeom prst="rect">
            <a:avLst/>
          </a:prstGeom>
          <a:solidFill>
            <a:srgbClr val="E76500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NOT  TO  EXPECT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4290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does not, by itself, generate use cases — that work continues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in Dev cannot bypass change control to reach Prod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land on the customer's SAP release cycle, not on a parallel one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 |  Chief Information Officer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5204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5720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cost, operational stability, SAP roadmap alignment, DevOps maturity, lifecycle management.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5440680" cy="1691640"/>
          </a:xfrm>
          <a:prstGeom prst="rect">
            <a:avLst/>
          </a:prstGeom>
          <a:solidFill>
            <a:srgbClr val="E6F4EA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188720"/>
            <a:ext cx="91440" cy="1691640"/>
          </a:xfrm>
          <a:prstGeom prst="rect">
            <a:avLst/>
          </a:prstGeom>
          <a:solidFill>
            <a:srgbClr val="128A3D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TO  EXPECT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600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SAP-recommended landscape that maps cleanly to cTMS and CI/CD practice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budgetable entitlement — Dev/QA tenants priced below Production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Pre-validation window for every SAP platform upgrade, not a forced cutover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971800"/>
            <a:ext cx="5440680" cy="1874520"/>
          </a:xfrm>
          <a:prstGeom prst="rect">
            <a:avLst/>
          </a:prstGeom>
          <a:solidFill>
            <a:srgbClr val="FFF3E6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971800"/>
            <a:ext cx="91440" cy="1874520"/>
          </a:xfrm>
          <a:prstGeom prst="rect">
            <a:avLst/>
          </a:prstGeom>
          <a:solidFill>
            <a:srgbClr val="E76500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NOT  TO  EXPECT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3756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 not free — but one Prod outage exceeds years of tenant fees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helps, but governance still requires CAB process and named approvers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SAP-managed upgrades happen on SAP's calendar, not the customer's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 |  Chief Information Security Officer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5204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Security Officer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457200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duties, audit defensibility, change control, isolation, regulatory compliance, DR posture.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5440680" cy="1691640"/>
          </a:xfrm>
          <a:prstGeom prst="rect">
            <a:avLst/>
          </a:prstGeom>
          <a:solidFill>
            <a:srgbClr val="E6F4EA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188720"/>
            <a:ext cx="91440" cy="1691640"/>
          </a:xfrm>
          <a:prstGeom prst="rect">
            <a:avLst/>
          </a:prstGeom>
          <a:solidFill>
            <a:srgbClr val="128A3D"/>
          </a:solidFill>
          <a:ln w="12700">
            <a:solidFill>
              <a:srgbClr val="128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2801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2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TO  EXPECT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600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separation — a Dev change cannot reach Prod runtime by accident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transport trail: timestamp, approver, content version per promotion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mapping to SOX, GDPR, DPDPA, ISO 27001, IT-GC, PDPL, GxP scopes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971800"/>
            <a:ext cx="5440680" cy="1874520"/>
          </a:xfrm>
          <a:prstGeom prst="rect">
            <a:avLst/>
          </a:prstGeom>
          <a:solidFill>
            <a:srgbClr val="FFF3E6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2971800"/>
            <a:ext cx="91440" cy="1874520"/>
          </a:xfrm>
          <a:prstGeom prst="rect">
            <a:avLst/>
          </a:prstGeom>
          <a:solidFill>
            <a:srgbClr val="E76500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NOT  TO  EXPECT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37560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alone does not replace IAM, certificate rotation or secrets hygiene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three-tenant baseline is not a substitute for a tested DR runbook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 still requires named approvers and control owners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lenses converge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75688"/>
                <a:gridCol w="2075688"/>
                <a:gridCol w="206654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CDO 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CIO 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 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innovation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platform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Defensible posture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integration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findings closed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invest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backlog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33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relinquish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Direct-to-Prod 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Single-tenant savings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point of trust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840480"/>
            <a:ext cx="73152" cy="777240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904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 CONVERGENCE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13308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personas accept that protected Production is the non-negotiable baseline. The three-tenant landscape is the architecture that makes that promise enforceable rather than aspirational.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Investment, timeline and customer commitments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16276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627632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987552" cy="274320"/>
          </a:xfrm>
          <a:prstGeom prst="rect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694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Topology, region map, naming, sizing, entitlement plan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39112" y="1234440"/>
            <a:ext cx="16276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39112" y="1234440"/>
            <a:ext cx="1627632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12984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12264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59152" y="2560320"/>
            <a:ext cx="987552" cy="274320"/>
          </a:xfrm>
          <a:prstGeom prst="rect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9152" y="25694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weeks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30552" y="29260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 provisioned via SAP BTP global account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12464" y="1234440"/>
            <a:ext cx="16276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12464" y="1234440"/>
            <a:ext cx="1627632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12984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85616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032504" y="2560320"/>
            <a:ext cx="987552" cy="274320"/>
          </a:xfrm>
          <a:prstGeom prst="rect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2504" y="25694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03904" y="29260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cTMS configured, packages versioned, path tested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85816" y="1234440"/>
            <a:ext cx="16276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85816" y="1234440"/>
            <a:ext cx="1627632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85816" y="12984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58968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705856" y="2560320"/>
            <a:ext cx="987552" cy="274320"/>
          </a:xfrm>
          <a:prstGeom prst="rect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05856" y="25694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77256" y="29260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change-advisory, runbook, monitoring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59168" y="1234440"/>
            <a:ext cx="16276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59168" y="1234440"/>
            <a:ext cx="1627632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12984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 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18288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379208" y="2560320"/>
            <a:ext cx="987552" cy="274320"/>
          </a:xfrm>
          <a:prstGeom prst="rect">
            <a:avLst/>
          </a:prstGeom>
          <a:solidFill>
            <a:srgbClr val="EAF2FC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9208" y="2569464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50608" y="2926080"/>
            <a:ext cx="1444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flows enter through Dev → QA → Prod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931920"/>
            <a:ext cx="8412480" cy="685800"/>
          </a:xfrm>
          <a:prstGeom prst="rect">
            <a:avLst/>
          </a:prstGeom>
          <a:solidFill>
            <a:srgbClr val="F7F9FB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931920"/>
            <a:ext cx="73152" cy="685800"/>
          </a:xfrm>
          <a:prstGeom prst="rect">
            <a:avLst/>
          </a:prstGeom>
          <a:solidFill>
            <a:srgbClr val="E76500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86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76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COMMITS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approvers   •   Change-advisory cadence   •   Inventory of existing iFlows   •   Engagement with SAP AE on Dev/QA entitlement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three-tenant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  →   Test / QA   →   Production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9144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SAP-recommended baseline for any customer running business-critical workloads on Integration Suite. The single-tenant model is suitable only for proofs of concept.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606040" cy="1143000"/>
          </a:xfrm>
          <a:prstGeom prst="rect">
            <a:avLst/>
          </a:prstGeom>
          <a:solidFill>
            <a:srgbClr val="001F3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3383280"/>
            <a:ext cx="2606040" cy="1143000"/>
          </a:xfrm>
          <a:prstGeom prst="rect">
            <a:avLst/>
          </a:prstGeom>
          <a:solidFill>
            <a:srgbClr val="001F3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Trail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383280"/>
            <a:ext cx="2606040" cy="1143000"/>
          </a:xfrm>
          <a:prstGeom prst="rect">
            <a:avLst/>
          </a:prstGeom>
          <a:solidFill>
            <a:srgbClr val="001F3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38404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Upgrades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B3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SAP Gold Partner  |  Shop Floor to Cloud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48640" cy="36576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438912" cy="438912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261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workshop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13533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Landscape Assessment with integration team + Internal Audit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075688"/>
            <a:ext cx="438912" cy="438912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039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existing iFlows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2130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by business criticality, map to current tenant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52928"/>
            <a:ext cx="438912" cy="438912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2816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sized proposal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2907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sizing, SAP entitlement mapping, indicative commercials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630168"/>
            <a:ext cx="438912" cy="438912"/>
          </a:xfrm>
          <a:prstGeom prst="ellipse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630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35935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phased cutover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SAP Account Executive on Dev/QA entitlement structure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434840"/>
            <a:ext cx="8412480" cy="182880"/>
          </a:xfrm>
          <a:prstGeom prst="rect">
            <a:avLst/>
          </a:prstGeom>
          <a:solidFill>
            <a:srgbClr val="EAF2FC"/>
          </a:solidFill>
          <a:ln w="12700">
            <a:solidFill>
              <a:srgbClr val="EAF2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3484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deliverable: Customer Advisory PDF — Adopting a Multi-Tenant Strategy in SAP Integration Suite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37760"/>
            <a:ext cx="9144000" cy="10973"/>
          </a:xfrm>
          <a:prstGeom prst="rect">
            <a:avLst/>
          </a:prstGeom>
          <a:solidFill>
            <a:srgbClr val="0070F2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65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Abhiyanta India Solutions  |  Customer Advisory  |  SAP Integration Suite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63840" y="49651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Multi-Tenant Strategy in SAP Integration Suite — Customer Advisory</dc:title>
  <dc:subject>PptxGenJS Presentation</dc:subject>
  <dc:creator>Abhiyanta India Solutions Pvt. Ltd.</dc:creator>
  <cp:lastModifiedBy>Abhiyanta India Solutions Pvt. Ltd.</cp:lastModifiedBy>
  <cp:revision>1</cp:revision>
  <dcterms:created xsi:type="dcterms:W3CDTF">2026-05-27T13:58:01Z</dcterms:created>
  <dcterms:modified xsi:type="dcterms:W3CDTF">2026-05-27T13:58:01Z</dcterms:modified>
</cp:coreProperties>
</file>